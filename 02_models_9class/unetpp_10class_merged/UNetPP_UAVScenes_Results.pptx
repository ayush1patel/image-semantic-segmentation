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8C5099-2009-40F2-82B7-2105BFCE1678}">
  <a:tblStyle styleId="{778C5099-2009-40F2-82B7-2105BFCE167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UNet++ Semantic Segmentation on UAVScenes — Setup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457200" y="868680"/>
            <a:ext cx="1127729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57200" y="1051560"/>
            <a:ext cx="112773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Dataset: UAVScenes aerial camera imagery, native resolution 2448×2048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Split by flight sequence (no frame overlap between splits):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 11,825 images  |  Val 4,207 images  |  Test 3,285 images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Model: UNet++ (segmentation_models_pytorch), ResNet-34 encoder, ImageNet-pretrained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Training config: 352×288 resolution, batch size 32, 50 epochs, all images cached in RAM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Loss: 0.5 × Dice + 0.5 × class-weighted Cross-Entropy (median-frequency balancing)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Optimizer: AdamW, lr 3e-4 with warmup + cosine decay</a:t>
            </a:r>
            <a:endParaRPr sz="1700"/>
          </a:p>
        </p:txBody>
      </p:sp>
      <p:sp>
        <p:nvSpPr>
          <p:cNvPr id="87" name="Google Shape;87;p13"/>
          <p:cNvSpPr txBox="1"/>
          <p:nvPr/>
        </p:nvSpPr>
        <p:spPr>
          <a:xfrm>
            <a:off x="457200" y="324612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Class merging: 19 originally annotated classes → 10 training classes</a:t>
            </a:r>
            <a:endParaRPr/>
          </a:p>
        </p:txBody>
      </p:sp>
      <p:graphicFrame>
        <p:nvGraphicFramePr>
          <p:cNvPr id="88" name="Google Shape;88;p13"/>
          <p:cNvGraphicFramePr/>
          <p:nvPr/>
        </p:nvGraphicFramePr>
        <p:xfrm>
          <a:off x="457200" y="3611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{778C5099-2009-40F2-82B7-2105BFCE1678}</a:tableStyleId>
              </a:tblPr>
              <a:tblGrid>
                <a:gridCol w="640075"/>
                <a:gridCol w="2377450"/>
                <a:gridCol w="8259775"/>
              </a:tblGrid>
              <a:tr h="27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Merged From (raw UAVScenes classes)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</a:tr>
              <a:tr h="27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Background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background, unused/reserved raw ids, solar_board (removed), umbrella (removed)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7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Building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roof, transparent_roof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7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Road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dirt_motor_road, paved_motor_road, paved_walk, car_park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7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Airstrip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airstrip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7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Water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river, pool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7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Bridge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bridge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7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Container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container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7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Traffic_Barrier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traffic_barrier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7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Vegetation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green_field, wild_field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7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sedan, truck (merged dynamic class)</a:t>
                      </a:r>
                      <a:endParaRPr sz="18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Set Results — UNet++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457200" y="868680"/>
            <a:ext cx="1127729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57200" y="1005840"/>
            <a:ext cx="1127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Overall metrics (3,285 test image</a:t>
            </a:r>
            <a:r>
              <a:rPr b="1" lang="en-US" sz="1350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/>
          </a:p>
        </p:txBody>
      </p:sp>
      <p:graphicFrame>
        <p:nvGraphicFramePr>
          <p:cNvPr id="96" name="Google Shape;96;p14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{778C5099-2009-40F2-82B7-2105BFCE1678}</a:tableStyleId>
              </a:tblPr>
              <a:tblGrid>
                <a:gridCol w="1879550"/>
                <a:gridCol w="1879550"/>
                <a:gridCol w="1879550"/>
                <a:gridCol w="1879550"/>
                <a:gridCol w="1879550"/>
                <a:gridCol w="18795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Loss</a:t>
                      </a:r>
                      <a:endParaRPr sz="1900"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Pixel Accuracy</a:t>
                      </a:r>
                      <a:endParaRPr sz="1900"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IoU (mIoU)</a:t>
                      </a:r>
                      <a:endParaRPr sz="1900"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Precision</a:t>
                      </a:r>
                      <a:endParaRPr sz="1900"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Recall</a:t>
                      </a:r>
                      <a:endParaRPr sz="1900"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F1</a:t>
                      </a:r>
                      <a:endParaRPr sz="1900"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0.2727</a:t>
                      </a:r>
                      <a:endParaRPr sz="19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95.36%</a:t>
                      </a:r>
                      <a:endParaRPr sz="19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82.80%</a:t>
                      </a:r>
                      <a:endParaRPr sz="19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88.62%</a:t>
                      </a:r>
                      <a:endParaRPr sz="19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91.81%</a:t>
                      </a:r>
                      <a:endParaRPr sz="19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90.11%</a:t>
                      </a:r>
                      <a:endParaRPr sz="19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14"/>
          <p:cNvSpPr txBox="1"/>
          <p:nvPr/>
        </p:nvSpPr>
        <p:spPr>
          <a:xfrm>
            <a:off x="457200" y="233172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Per-class results, sorted best → worst by IoU</a:t>
            </a:r>
            <a:endParaRPr/>
          </a:p>
        </p:txBody>
      </p:sp>
      <p:graphicFrame>
        <p:nvGraphicFramePr>
          <p:cNvPr id="98" name="Google Shape;98;p14"/>
          <p:cNvGraphicFramePr/>
          <p:nvPr/>
        </p:nvGraphicFramePr>
        <p:xfrm>
          <a:off x="457200" y="2651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{778C5099-2009-40F2-82B7-2105BFCE1678}</a:tableStyleId>
              </a:tblPr>
              <a:tblGrid>
                <a:gridCol w="2743200"/>
                <a:gridCol w="2133525"/>
                <a:gridCol w="2133525"/>
                <a:gridCol w="2133525"/>
                <a:gridCol w="2133525"/>
              </a:tblGrid>
              <a:tr h="29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IoU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0F0F0"/>
                    </a:solidFill>
                  </a:tcPr>
                </a:tc>
              </a:tr>
              <a:tr h="2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Airstrip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96.8%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98.1%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98.6%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98.4%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Vegetation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95.7%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97.8%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97.7%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97.8%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Water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91.9%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94.0%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97.6%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95.8%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Building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87.4%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90.7%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96.1%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93.3%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Container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87.1%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89.5%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97.0%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93.1%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Road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85.0%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89.9%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94.0%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91.9%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Bridge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82.9%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92.5%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88.8%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90.6%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Background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75.4%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87.8%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84.2%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85.9%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68.1%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78.6%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83.5%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81.0%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2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Traffic Barrier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57.8%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67.2%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80.5%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73.3%</a:t>
                      </a:r>
                      <a:endParaRPr sz="2000"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14"/>
          <p:cNvSpPr txBox="1"/>
          <p:nvPr/>
        </p:nvSpPr>
        <p:spPr>
          <a:xfrm>
            <a:off x="457200" y="6080760"/>
            <a:ext cx="11277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Best: Airstrip (96.8%), Vegetation (95.7%), Water (91.9%).  Weakest: Traffic_Barrier (57.8%), Vehicle (68.1%) — both rare, small-object classes (well under 0.5% of all pixels).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Sample Predictions (Test Set)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457200" y="868680"/>
            <a:ext cx="1127729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is_000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8208" y="914400"/>
            <a:ext cx="7955279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457200" y="35661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Sample 1: paved schoolyard / courtyard — Building, Road, Vegetation</a:t>
            </a:r>
            <a:endParaRPr/>
          </a:p>
        </p:txBody>
      </p:sp>
      <p:pic>
        <p:nvPicPr>
          <p:cNvPr descr="vis_006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8208" y="3931920"/>
            <a:ext cx="7955279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Sample 2: airstrip with parking, building, container, vehicles, traffic barriers — all classes recovered closely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Future Work &amp; Improvement Plan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457200" y="868680"/>
            <a:ext cx="1127729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457200" y="1097274"/>
            <a:ext cx="112773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Train the full-resolution config (960×800) for the final “ideal” model — resolution helps small/rare classes (Traffic_Barrier, Vehicle) the most, since they shrink to near-invisibility at 352×288.</a:t>
            </a:r>
            <a:endParaRPr sz="2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Try a stronger encoder (ResNet-50 or EfficientNet-B3/B4) once the pipeline and hyperparameters are validated on the current fast config.</a:t>
            </a:r>
            <a:endParaRPr sz="2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Apply light post-processing (morphological cleanup / CRF) to reduce the boundary noise visible along class edges in the predictions.</a:t>
            </a:r>
            <a:endParaRPr sz="2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